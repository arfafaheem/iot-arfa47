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1" r:id="rId1"/>
  </p:sldMasterIdLst>
  <p:sldIdLst>
    <p:sldId id="256" r:id="rId2"/>
    <p:sldId id="257" r:id="rId3"/>
    <p:sldId id="258" r:id="rId4"/>
    <p:sldId id="259" r:id="rId5"/>
    <p:sldId id="260" r:id="rId6"/>
    <p:sldId id="262" r:id="rId7"/>
    <p:sldId id="263" r:id="rId8"/>
    <p:sldId id="264" r:id="rId9"/>
    <p:sldId id="272" r:id="rId10"/>
    <p:sldId id="266" r:id="rId11"/>
    <p:sldId id="268" r:id="rId12"/>
    <p:sldId id="267" r:id="rId13"/>
    <p:sldId id="269" r:id="rId14"/>
    <p:sldId id="270" r:id="rId15"/>
    <p:sldId id="271" r:id="rId16"/>
    <p:sldId id="273" r:id="rId17"/>
    <p:sldId id="274" r:id="rId18"/>
    <p:sldId id="26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56" d="100"/>
          <a:sy n="56" d="100"/>
        </p:scale>
        <p:origin x="960"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FD98CDFA-68CF-44CD-9F04-B3722ADCACD8}"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12951936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98CDFA-68CF-44CD-9F04-B3722ADCACD8}"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261480769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98CDFA-68CF-44CD-9F04-B3722ADCACD8}"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42838117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D98CDFA-68CF-44CD-9F04-B3722ADCACD8}"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12560127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D98CDFA-68CF-44CD-9F04-B3722ADCACD8}" type="datetimeFigureOut">
              <a:rPr lang="en-US" smtClean="0"/>
              <a:t>12/31/2025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14440382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D98CDFA-68CF-44CD-9F04-B3722ADCACD8}" type="datetimeFigureOut">
              <a:rPr lang="en-US" smtClean="0"/>
              <a:t>12/31/2025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129838404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D98CDFA-68CF-44CD-9F04-B3722ADCACD8}" type="datetimeFigureOut">
              <a:rPr lang="en-US" smtClean="0"/>
              <a:t>12/31/2025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10590418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FD98CDFA-68CF-44CD-9F04-B3722ADCACD8}"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2197873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D98CDFA-68CF-44CD-9F04-B3722ADCACD8}" type="datetimeFigureOut">
              <a:rPr lang="en-US" smtClean="0"/>
              <a:t>12/31/2025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3044703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98CDFA-68CF-44CD-9F04-B3722ADCACD8}"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1838579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98CDFA-68CF-44CD-9F04-B3722ADCACD8}"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6D215D-98F7-4938-A1F9-A82D55C98653}"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6882307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98CDFA-68CF-44CD-9F04-B3722ADCACD8}"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103091414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98CDFA-68CF-44CD-9F04-B3722ADCACD8}"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6D215D-98F7-4938-A1F9-A82D55C98653}"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631822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D98CDFA-68CF-44CD-9F04-B3722ADCACD8}"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5784504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98CDFA-68CF-44CD-9F04-B3722ADCACD8}"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71526316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D98CDFA-68CF-44CD-9F04-B3722ADCACD8}" type="datetimeFigureOut">
              <a:rPr lang="en-US" smtClean="0"/>
              <a:t>12/31/2025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E6D215D-98F7-4938-A1F9-A82D55C98653}" type="slidenum">
              <a:rPr lang="en-US" smtClean="0"/>
              <a:t>‹#›</a:t>
            </a:fld>
            <a:endParaRPr lang="en-US"/>
          </a:p>
        </p:txBody>
      </p:sp>
    </p:spTree>
    <p:extLst>
      <p:ext uri="{BB962C8B-B14F-4D97-AF65-F5344CB8AC3E}">
        <p14:creationId xmlns:p14="http://schemas.microsoft.com/office/powerpoint/2010/main" val="19643918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FD98CDFA-68CF-44CD-9F04-B3722ADCACD8}" type="datetimeFigureOut">
              <a:rPr lang="en-US" smtClean="0"/>
              <a:t>12/31/2025</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BE6D215D-98F7-4938-A1F9-A82D55C98653}" type="slidenum">
              <a:rPr lang="en-US" smtClean="0"/>
              <a:t>‹#›</a:t>
            </a:fld>
            <a:endParaRPr lang="en-US"/>
          </a:p>
        </p:txBody>
      </p:sp>
    </p:spTree>
    <p:extLst>
      <p:ext uri="{BB962C8B-B14F-4D97-AF65-F5344CB8AC3E}">
        <p14:creationId xmlns:p14="http://schemas.microsoft.com/office/powerpoint/2010/main" val="2852107921"/>
      </p:ext>
    </p:extLst>
  </p:cSld>
  <p:clrMap bg1="lt1" tx1="dk1" bg2="lt2" tx2="dk2" accent1="accent1" accent2="accent2" accent3="accent3" accent4="accent4" accent5="accent5" accent6="accent6" hlink="hlink" folHlink="folHlink"/>
  <p:sldLayoutIdLst>
    <p:sldLayoutId id="2147483702" r:id="rId1"/>
    <p:sldLayoutId id="2147483703" r:id="rId2"/>
    <p:sldLayoutId id="2147483704" r:id="rId3"/>
    <p:sldLayoutId id="2147483705" r:id="rId4"/>
    <p:sldLayoutId id="2147483706" r:id="rId5"/>
    <p:sldLayoutId id="2147483707" r:id="rId6"/>
    <p:sldLayoutId id="2147483708" r:id="rId7"/>
    <p:sldLayoutId id="2147483709" r:id="rId8"/>
    <p:sldLayoutId id="2147483710" r:id="rId9"/>
    <p:sldLayoutId id="2147483711" r:id="rId10"/>
    <p:sldLayoutId id="2147483712" r:id="rId11"/>
    <p:sldLayoutId id="2147483713" r:id="rId12"/>
    <p:sldLayoutId id="2147483714" r:id="rId13"/>
    <p:sldLayoutId id="2147483715" r:id="rId14"/>
    <p:sldLayoutId id="2147483716" r:id="rId15"/>
    <p:sldLayoutId id="2147483717"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6D49E-FE75-07AD-AE72-505462B0F0E2}"/>
              </a:ext>
            </a:extLst>
          </p:cNvPr>
          <p:cNvSpPr>
            <a:spLocks noGrp="1"/>
          </p:cNvSpPr>
          <p:nvPr>
            <p:ph type="ctrTitle"/>
          </p:nvPr>
        </p:nvSpPr>
        <p:spPr>
          <a:xfrm>
            <a:off x="1440623" y="2336114"/>
            <a:ext cx="7922683" cy="803562"/>
          </a:xfrm>
        </p:spPr>
        <p:txBody>
          <a:bodyPr/>
          <a:lstStyle/>
          <a:p>
            <a:pPr algn="l"/>
            <a:r>
              <a:rPr lang="en-US" sz="4000" b="1" dirty="0">
                <a:latin typeface="Times New Roman" panose="02020603050405020304" pitchFamily="18" charset="0"/>
                <a:cs typeface="Times New Roman" panose="02020603050405020304" pitchFamily="18" charset="0"/>
              </a:rPr>
              <a:t>Health Monitoring System(HMS)</a:t>
            </a:r>
          </a:p>
        </p:txBody>
      </p:sp>
      <p:sp>
        <p:nvSpPr>
          <p:cNvPr id="3" name="Subtitle 2">
            <a:extLst>
              <a:ext uri="{FF2B5EF4-FFF2-40B4-BE49-F238E27FC236}">
                <a16:creationId xmlns:a16="http://schemas.microsoft.com/office/drawing/2014/main" id="{D4F06D90-2996-9754-892C-F9393F6BAB86}"/>
              </a:ext>
            </a:extLst>
          </p:cNvPr>
          <p:cNvSpPr>
            <a:spLocks noGrp="1"/>
          </p:cNvSpPr>
          <p:nvPr>
            <p:ph type="subTitle" idx="1"/>
          </p:nvPr>
        </p:nvSpPr>
        <p:spPr>
          <a:xfrm>
            <a:off x="1440623" y="3238264"/>
            <a:ext cx="8894233" cy="3231116"/>
          </a:xfrm>
        </p:spPr>
        <p:txBody>
          <a:bodyPr>
            <a:normAutofit/>
          </a:bodyPr>
          <a:lstStyle/>
          <a:p>
            <a:pPr algn="l"/>
            <a:r>
              <a:rPr lang="en-US" sz="2000" b="1" dirty="0">
                <a:solidFill>
                  <a:schemeClr val="tx1"/>
                </a:solidFill>
                <a:latin typeface="Times New Roman" panose="02020603050405020304" pitchFamily="18" charset="0"/>
                <a:cs typeface="Times New Roman" panose="02020603050405020304" pitchFamily="18" charset="0"/>
              </a:rPr>
              <a:t>PRESENTED BY: GROUP 7</a:t>
            </a:r>
          </a:p>
          <a:p>
            <a:pPr algn="l"/>
            <a:r>
              <a:rPr lang="en-US" sz="2000" b="1" dirty="0">
                <a:solidFill>
                  <a:schemeClr val="tx1"/>
                </a:solidFill>
                <a:latin typeface="Times New Roman" panose="02020603050405020304" pitchFamily="18" charset="0"/>
                <a:cs typeface="Times New Roman" panose="02020603050405020304" pitchFamily="18" charset="0"/>
              </a:rPr>
              <a:t>PRESENTED TO: Mr. Nasir Mahmood</a:t>
            </a:r>
          </a:p>
          <a:p>
            <a:pPr algn="l"/>
            <a:r>
              <a:rPr lang="en-US" sz="2000" b="1" dirty="0">
                <a:solidFill>
                  <a:schemeClr val="tx1"/>
                </a:solidFill>
                <a:latin typeface="Times New Roman" panose="02020603050405020304" pitchFamily="18" charset="0"/>
                <a:cs typeface="Times New Roman" panose="02020603050405020304" pitchFamily="18" charset="0"/>
              </a:rPr>
              <a:t>MEMBERS: </a:t>
            </a:r>
          </a:p>
          <a:p>
            <a:pPr marL="285750" indent="-285750" algn="l">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Arfa Faheem (23-1247)</a:t>
            </a:r>
          </a:p>
          <a:p>
            <a:pPr marL="285750" indent="-285750" algn="l">
              <a:buFont typeface="Arial" panose="020B0604020202020204" pitchFamily="34" charset="0"/>
              <a:buChar char="•"/>
            </a:pPr>
            <a:r>
              <a:rPr lang="en-US" sz="2000" b="1" dirty="0">
                <a:solidFill>
                  <a:schemeClr val="tx1"/>
                </a:solidFill>
                <a:latin typeface="Times New Roman" panose="02020603050405020304" pitchFamily="18" charset="0"/>
                <a:cs typeface="Times New Roman" panose="02020603050405020304" pitchFamily="18" charset="0"/>
              </a:rPr>
              <a:t>Amna Sajid (23-1245)</a:t>
            </a:r>
          </a:p>
        </p:txBody>
      </p:sp>
      <p:pic>
        <p:nvPicPr>
          <p:cNvPr id="5" name="Picture 4">
            <a:extLst>
              <a:ext uri="{FF2B5EF4-FFF2-40B4-BE49-F238E27FC236}">
                <a16:creationId xmlns:a16="http://schemas.microsoft.com/office/drawing/2014/main" id="{CCAEF1F0-F85E-E0D4-ECC2-99D011AB3E88}"/>
              </a:ext>
            </a:extLst>
          </p:cNvPr>
          <p:cNvPicPr>
            <a:picLocks noChangeAspect="1"/>
          </p:cNvPicPr>
          <p:nvPr/>
        </p:nvPicPr>
        <p:blipFill>
          <a:blip r:embed="rId2"/>
          <a:stretch>
            <a:fillRect/>
          </a:stretch>
        </p:blipFill>
        <p:spPr>
          <a:xfrm>
            <a:off x="3767759" y="295563"/>
            <a:ext cx="3268412" cy="1097050"/>
          </a:xfrm>
          <a:prstGeom prst="rect">
            <a:avLst/>
          </a:prstGeom>
        </p:spPr>
      </p:pic>
    </p:spTree>
    <p:extLst>
      <p:ext uri="{BB962C8B-B14F-4D97-AF65-F5344CB8AC3E}">
        <p14:creationId xmlns:p14="http://schemas.microsoft.com/office/powerpoint/2010/main" val="1070398759"/>
      </p:ext>
    </p:extLst>
  </p:cSld>
  <p:clrMapOvr>
    <a:masterClrMapping/>
  </p:clrMapOvr>
  <p:transition spd="slow">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arn(inVertical)">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barn(inVertical)">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barn(inVertical)">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barn(inVertical)">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uiExpand="1"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EF090-FAF5-58F0-490C-002DEC2C1273}"/>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Introduction</a:t>
            </a:r>
          </a:p>
        </p:txBody>
      </p:sp>
      <p:sp>
        <p:nvSpPr>
          <p:cNvPr id="3" name="Content Placeholder 2">
            <a:extLst>
              <a:ext uri="{FF2B5EF4-FFF2-40B4-BE49-F238E27FC236}">
                <a16:creationId xmlns:a16="http://schemas.microsoft.com/office/drawing/2014/main" id="{E43B767A-C911-47A5-41E7-C308A80D4393}"/>
              </a:ext>
            </a:extLst>
          </p:cNvPr>
          <p:cNvSpPr>
            <a:spLocks noGrp="1"/>
          </p:cNvSpPr>
          <p:nvPr>
            <p:ph idx="1"/>
          </p:nvPr>
        </p:nvSpPr>
        <p:spPr>
          <a:xfrm>
            <a:off x="677334" y="1488613"/>
            <a:ext cx="8596668" cy="5066423"/>
          </a:xfrm>
        </p:spPr>
        <p:txBody>
          <a:bodyPr>
            <a:normAutofit/>
          </a:bodyPr>
          <a:lstStyle/>
          <a:p>
            <a:r>
              <a:rPr lang="en-US" sz="2400" dirty="0">
                <a:latin typeface="Times New Roman" panose="02020603050405020304" pitchFamily="18" charset="0"/>
                <a:cs typeface="Times New Roman" panose="02020603050405020304" pitchFamily="18" charset="0"/>
              </a:rPr>
              <a:t>This Health Monitoring System(HMS) is designed to monitor vital health parameters such as heart rate and blood oxygen level (SpO₂) using IoT technology. </a:t>
            </a:r>
          </a:p>
          <a:p>
            <a:r>
              <a:rPr lang="en-US" sz="2400" dirty="0">
                <a:latin typeface="Times New Roman" panose="02020603050405020304" pitchFamily="18" charset="0"/>
                <a:cs typeface="Times New Roman" panose="02020603050405020304" pitchFamily="18" charset="0"/>
              </a:rPr>
              <a:t>The system uses ESP32 along with MAX30100 pulse oximeter sensor to collect real-time health data and display it on an OLED display as well as on the Blynk mobile application and dashboard, making it useful for home-based health monitoring.</a:t>
            </a:r>
          </a:p>
          <a:p>
            <a:r>
              <a:rPr lang="en-US" sz="2400" dirty="0">
                <a:latin typeface="Times New Roman" panose="02020603050405020304" pitchFamily="18" charset="0"/>
                <a:cs typeface="Times New Roman" panose="02020603050405020304" pitchFamily="18" charset="0"/>
              </a:rPr>
              <a:t>If there is health risk, it sends alert on mobile app and email notification. A buzzer activates to indicate a health risk.</a:t>
            </a:r>
          </a:p>
        </p:txBody>
      </p:sp>
    </p:spTree>
    <p:extLst>
      <p:ext uri="{BB962C8B-B14F-4D97-AF65-F5344CB8AC3E}">
        <p14:creationId xmlns:p14="http://schemas.microsoft.com/office/powerpoint/2010/main" val="2877290755"/>
      </p:ext>
    </p:extLst>
  </p:cSld>
  <p:clrMapOvr>
    <a:masterClrMapping/>
  </p:clrMapOvr>
  <p:transition spd="slow">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5E436-FD08-D9EA-6043-8CA497F68FB1}"/>
              </a:ext>
            </a:extLst>
          </p:cNvPr>
          <p:cNvSpPr>
            <a:spLocks noGrp="1"/>
          </p:cNvSpPr>
          <p:nvPr>
            <p:ph type="title"/>
          </p:nvPr>
        </p:nvSpPr>
        <p:spPr/>
        <p:txBody>
          <a:bodyPr/>
          <a:lstStyle/>
          <a:p>
            <a:pPr algn="ctr"/>
            <a:r>
              <a:rPr lang="en-US" b="1" dirty="0">
                <a:latin typeface="Times New Roman" panose="02020603050405020304" pitchFamily="18" charset="0"/>
                <a:cs typeface="Times New Roman" panose="02020603050405020304" pitchFamily="18" charset="0"/>
              </a:rPr>
              <a:t>Objectives</a:t>
            </a:r>
          </a:p>
        </p:txBody>
      </p:sp>
      <p:sp>
        <p:nvSpPr>
          <p:cNvPr id="3" name="Content Placeholder 2">
            <a:extLst>
              <a:ext uri="{FF2B5EF4-FFF2-40B4-BE49-F238E27FC236}">
                <a16:creationId xmlns:a16="http://schemas.microsoft.com/office/drawing/2014/main" id="{F1AE19CB-7BCC-0B8C-F2E3-A8F97591DB39}"/>
              </a:ext>
            </a:extLst>
          </p:cNvPr>
          <p:cNvSpPr>
            <a:spLocks noGrp="1"/>
          </p:cNvSpPr>
          <p:nvPr>
            <p:ph idx="1"/>
          </p:nvPr>
        </p:nvSpPr>
        <p:spPr>
          <a:xfrm>
            <a:off x="677334" y="1620763"/>
            <a:ext cx="8596668" cy="3880773"/>
          </a:xfrm>
        </p:spPr>
        <p:txBody>
          <a:bodyPr>
            <a:normAutofit/>
          </a:bodyPr>
          <a:lstStyle/>
          <a:p>
            <a:pPr lvl="0"/>
            <a:r>
              <a:rPr lang="en-US" sz="2400" dirty="0">
                <a:latin typeface="Times New Roman" panose="02020603050405020304" pitchFamily="18" charset="0"/>
                <a:cs typeface="Times New Roman" panose="02020603050405020304" pitchFamily="18" charset="0"/>
              </a:rPr>
              <a:t>To measure heart rate using MAX30100 sensor</a:t>
            </a:r>
          </a:p>
          <a:p>
            <a:pPr lvl="0"/>
            <a:r>
              <a:rPr lang="en-US" sz="2400" dirty="0">
                <a:latin typeface="Times New Roman" panose="02020603050405020304" pitchFamily="18" charset="0"/>
                <a:cs typeface="Times New Roman" panose="02020603050405020304" pitchFamily="18" charset="0"/>
              </a:rPr>
              <a:t>To monitor blood oxygen level(SpO₂)</a:t>
            </a:r>
          </a:p>
          <a:p>
            <a:pPr lvl="0"/>
            <a:r>
              <a:rPr lang="en-US" sz="2400" dirty="0">
                <a:latin typeface="Times New Roman" panose="02020603050405020304" pitchFamily="18" charset="0"/>
                <a:cs typeface="Times New Roman" panose="02020603050405020304" pitchFamily="18" charset="0"/>
              </a:rPr>
              <a:t>To display sensor values on OLED display</a:t>
            </a:r>
          </a:p>
          <a:p>
            <a:pPr lvl="0"/>
            <a:r>
              <a:rPr lang="en-US" sz="2400" dirty="0">
                <a:latin typeface="Times New Roman" panose="02020603050405020304" pitchFamily="18" charset="0"/>
                <a:cs typeface="Times New Roman" panose="02020603050405020304" pitchFamily="18" charset="0"/>
              </a:rPr>
              <a:t>To send real time data to Blynk cloud and mobile app</a:t>
            </a:r>
          </a:p>
          <a:p>
            <a:pPr lvl="0"/>
            <a:r>
              <a:rPr lang="en-US" sz="2400" dirty="0">
                <a:latin typeface="Times New Roman" panose="02020603050405020304" pitchFamily="18" charset="0"/>
                <a:cs typeface="Times New Roman" panose="02020603050405020304" pitchFamily="18" charset="0"/>
              </a:rPr>
              <a:t>To generate an alert by using buzzer when heart rate exceeds limit and also sends email message.</a:t>
            </a:r>
          </a:p>
        </p:txBody>
      </p:sp>
    </p:spTree>
    <p:extLst>
      <p:ext uri="{BB962C8B-B14F-4D97-AF65-F5344CB8AC3E}">
        <p14:creationId xmlns:p14="http://schemas.microsoft.com/office/powerpoint/2010/main" val="3072398370"/>
      </p:ext>
    </p:extLst>
  </p:cSld>
  <p:clrMapOvr>
    <a:masterClrMapping/>
  </p:clrMapOvr>
  <p:transition spd="slow">
    <p:wip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AB499-18ED-3042-1CDD-C1938C7EDC9D}"/>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Libraries used:</a:t>
            </a:r>
          </a:p>
        </p:txBody>
      </p:sp>
      <p:sp>
        <p:nvSpPr>
          <p:cNvPr id="3" name="Content Placeholder 2">
            <a:extLst>
              <a:ext uri="{FF2B5EF4-FFF2-40B4-BE49-F238E27FC236}">
                <a16:creationId xmlns:a16="http://schemas.microsoft.com/office/drawing/2014/main" id="{4301D770-49C3-2425-D2E3-11F86ACAFD8F}"/>
              </a:ext>
            </a:extLst>
          </p:cNvPr>
          <p:cNvSpPr>
            <a:spLocks noGrp="1"/>
          </p:cNvSpPr>
          <p:nvPr>
            <p:ph idx="1"/>
          </p:nvPr>
        </p:nvSpPr>
        <p:spPr>
          <a:xfrm>
            <a:off x="677334" y="1488613"/>
            <a:ext cx="8596668" cy="3880773"/>
          </a:xfrm>
        </p:spPr>
        <p:txBody>
          <a:bodyPr>
            <a:normAutofit lnSpcReduction="10000"/>
          </a:bodyPr>
          <a:lstStyle/>
          <a:p>
            <a:r>
              <a:rPr lang="en-US" sz="2400" dirty="0">
                <a:latin typeface="Times New Roman" panose="02020603050405020304" pitchFamily="18" charset="0"/>
                <a:cs typeface="Times New Roman" panose="02020603050405020304" pitchFamily="18" charset="0"/>
              </a:rPr>
              <a:t>#include &lt;</a:t>
            </a:r>
            <a:r>
              <a:rPr lang="en-US" sz="2400" dirty="0" err="1">
                <a:latin typeface="Times New Roman" panose="02020603050405020304" pitchFamily="18" charset="0"/>
                <a:cs typeface="Times New Roman" panose="02020603050405020304" pitchFamily="18" charset="0"/>
              </a:rPr>
              <a:t>Wire.h</a:t>
            </a:r>
            <a:r>
              <a:rPr lang="en-US" sz="2400" dirty="0">
                <a:latin typeface="Times New Roman" panose="02020603050405020304" pitchFamily="18" charset="0"/>
                <a:cs typeface="Times New Roman" panose="02020603050405020304" pitchFamily="18" charset="0"/>
              </a:rPr>
              <a:t>&gt; //enables I2C communication between ESP32 and sensors, </a:t>
            </a:r>
            <a:r>
              <a:rPr lang="en-US" sz="2400" dirty="0" err="1">
                <a:latin typeface="Times New Roman" panose="02020603050405020304" pitchFamily="18" charset="0"/>
                <a:cs typeface="Times New Roman" panose="02020603050405020304" pitchFamily="18" charset="0"/>
              </a:rPr>
              <a:t>oled</a:t>
            </a:r>
            <a:r>
              <a:rPr lang="en-US" sz="2400" dirty="0">
                <a:latin typeface="Times New Roman" panose="02020603050405020304" pitchFamily="18" charset="0"/>
                <a:cs typeface="Times New Roman" panose="02020603050405020304" pitchFamily="18" charset="0"/>
              </a:rPr>
              <a:t>.</a:t>
            </a:r>
          </a:p>
          <a:p>
            <a:r>
              <a:rPr lang="en-US" sz="2400" dirty="0">
                <a:latin typeface="Times New Roman" panose="02020603050405020304" pitchFamily="18" charset="0"/>
                <a:cs typeface="Times New Roman" panose="02020603050405020304" pitchFamily="18" charset="0"/>
              </a:rPr>
              <a:t>#include &lt;MAX30100_PulseOximeter.h&gt; //sensors to read heart rate and SpO2</a:t>
            </a:r>
          </a:p>
          <a:p>
            <a:r>
              <a:rPr lang="en-US" sz="2400" dirty="0">
                <a:latin typeface="Times New Roman" panose="02020603050405020304" pitchFamily="18" charset="0"/>
                <a:cs typeface="Times New Roman" panose="02020603050405020304" pitchFamily="18" charset="0"/>
              </a:rPr>
              <a:t>#include &lt;</a:t>
            </a:r>
            <a:r>
              <a:rPr lang="en-US" sz="2400" dirty="0" err="1">
                <a:latin typeface="Times New Roman" panose="02020603050405020304" pitchFamily="18" charset="0"/>
                <a:cs typeface="Times New Roman" panose="02020603050405020304" pitchFamily="18" charset="0"/>
              </a:rPr>
              <a:t>Adafruit_GFX.h</a:t>
            </a:r>
            <a:r>
              <a:rPr lang="en-US" sz="2400" dirty="0">
                <a:latin typeface="Times New Roman" panose="02020603050405020304" pitchFamily="18" charset="0"/>
                <a:cs typeface="Times New Roman" panose="02020603050405020304" pitchFamily="18" charset="0"/>
              </a:rPr>
              <a:t>&gt; //for displaying text</a:t>
            </a:r>
          </a:p>
          <a:p>
            <a:r>
              <a:rPr lang="en-US" sz="2400" dirty="0">
                <a:latin typeface="Times New Roman" panose="02020603050405020304" pitchFamily="18" charset="0"/>
                <a:cs typeface="Times New Roman" panose="02020603050405020304" pitchFamily="18" charset="0"/>
              </a:rPr>
              <a:t>#include &lt;Adafruit_SSD1306.h&gt; //for </a:t>
            </a:r>
            <a:r>
              <a:rPr lang="en-US" sz="2400" dirty="0" err="1">
                <a:latin typeface="Times New Roman" panose="02020603050405020304" pitchFamily="18" charset="0"/>
                <a:cs typeface="Times New Roman" panose="02020603050405020304" pitchFamily="18" charset="0"/>
              </a:rPr>
              <a:t>oled</a:t>
            </a:r>
            <a:r>
              <a:rPr lang="en-US" sz="2400" dirty="0">
                <a:latin typeface="Times New Roman" panose="02020603050405020304" pitchFamily="18" charset="0"/>
                <a:cs typeface="Times New Roman" panose="02020603050405020304" pitchFamily="18" charset="0"/>
              </a:rPr>
              <a:t> driver</a:t>
            </a:r>
          </a:p>
          <a:p>
            <a:r>
              <a:rPr lang="en-US" sz="2400" dirty="0">
                <a:latin typeface="Times New Roman" panose="02020603050405020304" pitchFamily="18" charset="0"/>
                <a:cs typeface="Times New Roman" panose="02020603050405020304" pitchFamily="18" charset="0"/>
              </a:rPr>
              <a:t>#include &lt;</a:t>
            </a:r>
            <a:r>
              <a:rPr lang="en-US" sz="2400" dirty="0" err="1">
                <a:latin typeface="Times New Roman" panose="02020603050405020304" pitchFamily="18" charset="0"/>
                <a:cs typeface="Times New Roman" panose="02020603050405020304" pitchFamily="18" charset="0"/>
              </a:rPr>
              <a:t>WiFi.h</a:t>
            </a:r>
            <a:r>
              <a:rPr lang="en-US" sz="2400" dirty="0">
                <a:latin typeface="Times New Roman" panose="02020603050405020304" pitchFamily="18" charset="0"/>
                <a:cs typeface="Times New Roman" panose="02020603050405020304" pitchFamily="18" charset="0"/>
              </a:rPr>
              <a:t>&gt; //enables </a:t>
            </a:r>
            <a:r>
              <a:rPr lang="en-US" sz="2400" dirty="0" err="1">
                <a:latin typeface="Times New Roman" panose="02020603050405020304" pitchFamily="18" charset="0"/>
                <a:cs typeface="Times New Roman" panose="02020603050405020304" pitchFamily="18" charset="0"/>
              </a:rPr>
              <a:t>WiFi</a:t>
            </a:r>
            <a:r>
              <a:rPr lang="en-US" sz="2400" dirty="0">
                <a:latin typeface="Times New Roman" panose="02020603050405020304" pitchFamily="18" charset="0"/>
                <a:cs typeface="Times New Roman" panose="02020603050405020304" pitchFamily="18" charset="0"/>
              </a:rPr>
              <a:t> connectivity for ESP32</a:t>
            </a:r>
          </a:p>
          <a:p>
            <a:r>
              <a:rPr lang="en-US" sz="2400" dirty="0">
                <a:latin typeface="Times New Roman" panose="02020603050405020304" pitchFamily="18" charset="0"/>
                <a:cs typeface="Times New Roman" panose="02020603050405020304" pitchFamily="18" charset="0"/>
              </a:rPr>
              <a:t>#include &lt;BlynkSimpleEsp32.h&gt; //Connects the ESP32 to the Blynk IoT platform for remote monitoring and control</a:t>
            </a:r>
            <a:r>
              <a:rPr lang="en-US" sz="2400" dirty="0"/>
              <a:t>.</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78389108"/>
      </p:ext>
    </p:extLst>
  </p:cSld>
  <p:clrMapOvr>
    <a:masterClrMapping/>
  </p:clrMapOvr>
  <p:transition spd="slow">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580B21-DC6E-EEDE-125B-9709E3E0B470}"/>
              </a:ext>
            </a:extLst>
          </p:cNvPr>
          <p:cNvSpPr>
            <a:spLocks noGrp="1"/>
          </p:cNvSpPr>
          <p:nvPr>
            <p:ph type="title"/>
          </p:nvPr>
        </p:nvSpPr>
        <p:spPr>
          <a:xfrm>
            <a:off x="677334" y="483870"/>
            <a:ext cx="8596668" cy="1320800"/>
          </a:xfrm>
        </p:spPr>
        <p:txBody>
          <a:bodyPr/>
          <a:lstStyle/>
          <a:p>
            <a:r>
              <a:rPr lang="en-US" b="1" dirty="0">
                <a:latin typeface="Times New Roman" panose="02020603050405020304" pitchFamily="18" charset="0"/>
                <a:cs typeface="Times New Roman" panose="02020603050405020304" pitchFamily="18" charset="0"/>
              </a:rPr>
              <a:t>Hardware Components:</a:t>
            </a:r>
          </a:p>
        </p:txBody>
      </p:sp>
      <p:sp>
        <p:nvSpPr>
          <p:cNvPr id="3" name="Content Placeholder 2">
            <a:extLst>
              <a:ext uri="{FF2B5EF4-FFF2-40B4-BE49-F238E27FC236}">
                <a16:creationId xmlns:a16="http://schemas.microsoft.com/office/drawing/2014/main" id="{E2719E7A-F992-CAA2-7ABF-6B44A33DDDFD}"/>
              </a:ext>
            </a:extLst>
          </p:cNvPr>
          <p:cNvSpPr>
            <a:spLocks noGrp="1"/>
          </p:cNvSpPr>
          <p:nvPr>
            <p:ph idx="1"/>
          </p:nvPr>
        </p:nvSpPr>
        <p:spPr>
          <a:xfrm>
            <a:off x="677334" y="1071880"/>
            <a:ext cx="8596668" cy="2159000"/>
          </a:xfrm>
        </p:spPr>
        <p:txBody>
          <a:bodyPr>
            <a:noAutofit/>
          </a:bodyPr>
          <a:lstStyle/>
          <a:p>
            <a:pPr lvl="0"/>
            <a:r>
              <a:rPr lang="en-US" sz="2400" dirty="0">
                <a:latin typeface="Times New Roman" panose="02020603050405020304" pitchFamily="18" charset="0"/>
                <a:cs typeface="Times New Roman" panose="02020603050405020304" pitchFamily="18" charset="0"/>
              </a:rPr>
              <a:t>ESP32: Used as main microcontroller</a:t>
            </a:r>
          </a:p>
          <a:p>
            <a:pPr lvl="0"/>
            <a:r>
              <a:rPr lang="en-US" sz="2400" dirty="0">
                <a:latin typeface="Times New Roman" panose="02020603050405020304" pitchFamily="18" charset="0"/>
                <a:cs typeface="Times New Roman" panose="02020603050405020304" pitchFamily="18" charset="0"/>
              </a:rPr>
              <a:t>MAX30100: Used to measure heart rate and SpO₂</a:t>
            </a:r>
          </a:p>
          <a:p>
            <a:pPr lvl="0"/>
            <a:r>
              <a:rPr lang="en-US" sz="2400" dirty="0">
                <a:latin typeface="Times New Roman" panose="02020603050405020304" pitchFamily="18" charset="0"/>
                <a:cs typeface="Times New Roman" panose="02020603050405020304" pitchFamily="18" charset="0"/>
              </a:rPr>
              <a:t>OLED Display: Used to display sensor values</a:t>
            </a:r>
          </a:p>
          <a:p>
            <a:pPr lvl="0"/>
            <a:r>
              <a:rPr lang="en-US" sz="2400" dirty="0">
                <a:latin typeface="Times New Roman" panose="02020603050405020304" pitchFamily="18" charset="0"/>
                <a:cs typeface="Times New Roman" panose="02020603050405020304" pitchFamily="18" charset="0"/>
              </a:rPr>
              <a:t>Buzzer: Used for alert indication</a:t>
            </a:r>
          </a:p>
          <a:p>
            <a:pPr marL="0" lvl="0" indent="0">
              <a:buNone/>
            </a:pPr>
            <a:endParaRPr lang="en-US" sz="2400" dirty="0">
              <a:latin typeface="Times New Roman" panose="02020603050405020304" pitchFamily="18" charset="0"/>
              <a:cs typeface="Times New Roman" panose="02020603050405020304" pitchFamily="18" charset="0"/>
            </a:endParaRPr>
          </a:p>
        </p:txBody>
      </p:sp>
      <p:sp>
        <p:nvSpPr>
          <p:cNvPr id="4" name="Title 1">
            <a:extLst>
              <a:ext uri="{FF2B5EF4-FFF2-40B4-BE49-F238E27FC236}">
                <a16:creationId xmlns:a16="http://schemas.microsoft.com/office/drawing/2014/main" id="{D3A1D251-CC46-6367-C3EE-113B3523AA8C}"/>
              </a:ext>
            </a:extLst>
          </p:cNvPr>
          <p:cNvSpPr txBox="1">
            <a:spLocks/>
          </p:cNvSpPr>
          <p:nvPr/>
        </p:nvSpPr>
        <p:spPr>
          <a:xfrm>
            <a:off x="677334" y="3078479"/>
            <a:ext cx="8596668" cy="858522"/>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latin typeface="Times New Roman" panose="02020603050405020304" pitchFamily="18" charset="0"/>
                <a:cs typeface="Times New Roman" panose="02020603050405020304" pitchFamily="18" charset="0"/>
              </a:rPr>
              <a:t>Software Components:</a:t>
            </a:r>
          </a:p>
        </p:txBody>
      </p:sp>
      <p:sp>
        <p:nvSpPr>
          <p:cNvPr id="5" name="Content Placeholder 2">
            <a:extLst>
              <a:ext uri="{FF2B5EF4-FFF2-40B4-BE49-F238E27FC236}">
                <a16:creationId xmlns:a16="http://schemas.microsoft.com/office/drawing/2014/main" id="{5B4EFF27-8FDE-719C-81AD-BD026952E75F}"/>
              </a:ext>
            </a:extLst>
          </p:cNvPr>
          <p:cNvSpPr txBox="1">
            <a:spLocks/>
          </p:cNvSpPr>
          <p:nvPr/>
        </p:nvSpPr>
        <p:spPr>
          <a:xfrm>
            <a:off x="677334" y="3818890"/>
            <a:ext cx="8596668" cy="2159000"/>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lvl="0"/>
            <a:r>
              <a:rPr lang="en-US" sz="2400" dirty="0" err="1">
                <a:latin typeface="Times New Roman" panose="02020603050405020304" pitchFamily="18" charset="0"/>
                <a:cs typeface="Times New Roman" panose="02020603050405020304" pitchFamily="18" charset="0"/>
              </a:rPr>
              <a:t>PlatformIO</a:t>
            </a:r>
            <a:r>
              <a:rPr lang="en-US" sz="2400" dirty="0">
                <a:latin typeface="Times New Roman" panose="02020603050405020304" pitchFamily="18" charset="0"/>
                <a:cs typeface="Times New Roman" panose="02020603050405020304" pitchFamily="18" charset="0"/>
              </a:rPr>
              <a:t> (</a:t>
            </a:r>
            <a:r>
              <a:rPr lang="en-US" sz="2400" dirty="0" err="1">
                <a:latin typeface="Times New Roman" panose="02020603050405020304" pitchFamily="18" charset="0"/>
                <a:cs typeface="Times New Roman" panose="02020603050405020304" pitchFamily="18" charset="0"/>
              </a:rPr>
              <a:t>VSCode</a:t>
            </a:r>
            <a:r>
              <a:rPr lang="en-US" sz="2400" dirty="0">
                <a:latin typeface="Times New Roman" panose="02020603050405020304" pitchFamily="18" charset="0"/>
                <a:cs typeface="Times New Roman" panose="02020603050405020304" pitchFamily="18" charset="0"/>
              </a:rPr>
              <a:t>): IDE with advanced features and library management.</a:t>
            </a:r>
          </a:p>
          <a:p>
            <a:pPr lvl="0"/>
            <a:r>
              <a:rPr lang="en-US" sz="2400" dirty="0">
                <a:latin typeface="Times New Roman" panose="02020603050405020304" pitchFamily="18" charset="0"/>
                <a:cs typeface="Times New Roman" panose="02020603050405020304" pitchFamily="18" charset="0"/>
              </a:rPr>
              <a:t>Blynk Dashboard and Cloud: IoT platform for real-time data visualization, app notifications and remote device control.</a:t>
            </a:r>
          </a:p>
          <a:p>
            <a:pPr lvl="0"/>
            <a:r>
              <a:rPr lang="en-US" sz="2400" dirty="0">
                <a:latin typeface="Times New Roman" panose="02020603050405020304" pitchFamily="18" charset="0"/>
                <a:cs typeface="Times New Roman" panose="02020603050405020304" pitchFamily="18" charset="0"/>
              </a:rPr>
              <a:t>Blynk Email Event: For sending email notifications and alerts.</a:t>
            </a:r>
          </a:p>
          <a:p>
            <a:pPr lvl="0"/>
            <a:r>
              <a:rPr lang="en-US" sz="2400" dirty="0">
                <a:latin typeface="Times New Roman" panose="02020603050405020304" pitchFamily="18" charset="0"/>
                <a:cs typeface="Times New Roman" panose="02020603050405020304" pitchFamily="18" charset="0"/>
              </a:rPr>
              <a:t>Wi-Fi Libraries: For network connectivity on microcontrollers.</a:t>
            </a:r>
          </a:p>
        </p:txBody>
      </p:sp>
    </p:spTree>
    <p:extLst>
      <p:ext uri="{BB962C8B-B14F-4D97-AF65-F5344CB8AC3E}">
        <p14:creationId xmlns:p14="http://schemas.microsoft.com/office/powerpoint/2010/main" val="218652665"/>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FB037F-C86B-C23B-A300-C229C4EB7E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7BB976-B240-4C7D-3ECA-910263ECD9ED}"/>
              </a:ext>
            </a:extLst>
          </p:cNvPr>
          <p:cNvSpPr>
            <a:spLocks noGrp="1"/>
          </p:cNvSpPr>
          <p:nvPr>
            <p:ph type="title"/>
          </p:nvPr>
        </p:nvSpPr>
        <p:spPr>
          <a:xfrm>
            <a:off x="643044" y="185421"/>
            <a:ext cx="8596668" cy="1320800"/>
          </a:xfrm>
        </p:spPr>
        <p:txBody>
          <a:bodyPr/>
          <a:lstStyle/>
          <a:p>
            <a:pPr algn="ctr"/>
            <a:r>
              <a:rPr lang="en-US" b="1" dirty="0">
                <a:latin typeface="Times New Roman" panose="02020603050405020304" pitchFamily="18" charset="0"/>
                <a:cs typeface="Times New Roman" panose="02020603050405020304" pitchFamily="18" charset="0"/>
              </a:rPr>
              <a:t>Circuit Diagram</a:t>
            </a:r>
          </a:p>
        </p:txBody>
      </p:sp>
      <p:pic>
        <p:nvPicPr>
          <p:cNvPr id="6" name="Picture 5" descr="A circuit board with wires&#10;&#10;AI-generated content may be incorrect.">
            <a:extLst>
              <a:ext uri="{FF2B5EF4-FFF2-40B4-BE49-F238E27FC236}">
                <a16:creationId xmlns:a16="http://schemas.microsoft.com/office/drawing/2014/main" id="{42CABA62-F137-275B-0254-0A7AA550C8A1}"/>
              </a:ext>
            </a:extLst>
          </p:cNvPr>
          <p:cNvPicPr>
            <a:picLocks noChangeAspect="1"/>
          </p:cNvPicPr>
          <p:nvPr/>
        </p:nvPicPr>
        <p:blipFill>
          <a:blip r:embed="rId2"/>
          <a:stretch>
            <a:fillRect/>
          </a:stretch>
        </p:blipFill>
        <p:spPr>
          <a:xfrm>
            <a:off x="1740324" y="845821"/>
            <a:ext cx="7072206" cy="5729978"/>
          </a:xfrm>
          <a:prstGeom prst="rect">
            <a:avLst/>
          </a:prstGeom>
        </p:spPr>
      </p:pic>
    </p:spTree>
    <p:extLst>
      <p:ext uri="{BB962C8B-B14F-4D97-AF65-F5344CB8AC3E}">
        <p14:creationId xmlns:p14="http://schemas.microsoft.com/office/powerpoint/2010/main" val="2608281148"/>
      </p:ext>
    </p:extLst>
  </p:cSld>
  <p:clrMapOvr>
    <a:masterClrMapping/>
  </p:clrMapOvr>
  <p:transition spd="slow">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661D41-934C-8D35-A6B1-E00D3885EF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A48A60-36E3-3613-8EC0-F6FCF2ABB5E4}"/>
              </a:ext>
            </a:extLst>
          </p:cNvPr>
          <p:cNvSpPr>
            <a:spLocks noGrp="1"/>
          </p:cNvSpPr>
          <p:nvPr>
            <p:ph type="title"/>
          </p:nvPr>
        </p:nvSpPr>
        <p:spPr>
          <a:xfrm>
            <a:off x="677334" y="391161"/>
            <a:ext cx="8596668" cy="1320800"/>
          </a:xfrm>
        </p:spPr>
        <p:txBody>
          <a:bodyPr/>
          <a:lstStyle/>
          <a:p>
            <a:r>
              <a:rPr lang="en-US" b="1" dirty="0">
                <a:latin typeface="Times New Roman" panose="02020603050405020304" pitchFamily="18" charset="0"/>
                <a:cs typeface="Times New Roman" panose="02020603050405020304" pitchFamily="18" charset="0"/>
              </a:rPr>
              <a:t>Flow Chart:</a:t>
            </a:r>
          </a:p>
        </p:txBody>
      </p:sp>
      <p:pic>
        <p:nvPicPr>
          <p:cNvPr id="10" name="Picture 9" descr="A diagram of a cloud system&#10;&#10;AI-generated content may be incorrect.">
            <a:extLst>
              <a:ext uri="{FF2B5EF4-FFF2-40B4-BE49-F238E27FC236}">
                <a16:creationId xmlns:a16="http://schemas.microsoft.com/office/drawing/2014/main" id="{EF36C756-9330-D4DB-1291-F2E3CF8272F7}"/>
              </a:ext>
            </a:extLst>
          </p:cNvPr>
          <p:cNvPicPr>
            <a:picLocks noChangeAspect="1"/>
          </p:cNvPicPr>
          <p:nvPr/>
        </p:nvPicPr>
        <p:blipFill>
          <a:blip r:embed="rId2"/>
          <a:stretch>
            <a:fillRect/>
          </a:stretch>
        </p:blipFill>
        <p:spPr>
          <a:xfrm>
            <a:off x="1099185" y="1026159"/>
            <a:ext cx="7896225" cy="5293857"/>
          </a:xfrm>
          <a:prstGeom prst="rect">
            <a:avLst/>
          </a:prstGeom>
        </p:spPr>
      </p:pic>
    </p:spTree>
    <p:extLst>
      <p:ext uri="{BB962C8B-B14F-4D97-AF65-F5344CB8AC3E}">
        <p14:creationId xmlns:p14="http://schemas.microsoft.com/office/powerpoint/2010/main" val="3494118768"/>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E08E5D-5AE7-D3C7-D793-0B9ED27719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83111C-4596-62A7-AD3F-292C545B1642}"/>
              </a:ext>
            </a:extLst>
          </p:cNvPr>
          <p:cNvSpPr>
            <a:spLocks noGrp="1"/>
          </p:cNvSpPr>
          <p:nvPr>
            <p:ph type="title"/>
          </p:nvPr>
        </p:nvSpPr>
        <p:spPr>
          <a:xfrm>
            <a:off x="677334" y="391161"/>
            <a:ext cx="8596668" cy="1320800"/>
          </a:xfrm>
        </p:spPr>
        <p:txBody>
          <a:bodyPr/>
          <a:lstStyle/>
          <a:p>
            <a:r>
              <a:rPr lang="en-US" b="1" dirty="0">
                <a:latin typeface="Times New Roman" panose="02020603050405020304" pitchFamily="18" charset="0"/>
                <a:cs typeface="Times New Roman" panose="02020603050405020304" pitchFamily="18" charset="0"/>
              </a:rPr>
              <a:t>Working:</a:t>
            </a:r>
          </a:p>
        </p:txBody>
      </p:sp>
      <p:sp>
        <p:nvSpPr>
          <p:cNvPr id="5" name="Content Placeholder 4">
            <a:extLst>
              <a:ext uri="{FF2B5EF4-FFF2-40B4-BE49-F238E27FC236}">
                <a16:creationId xmlns:a16="http://schemas.microsoft.com/office/drawing/2014/main" id="{1A1B079A-197D-5A3D-636E-F0C3CAFB2391}"/>
              </a:ext>
            </a:extLst>
          </p:cNvPr>
          <p:cNvSpPr>
            <a:spLocks noGrp="1"/>
          </p:cNvSpPr>
          <p:nvPr>
            <p:ph idx="1"/>
          </p:nvPr>
        </p:nvSpPr>
        <p:spPr>
          <a:xfrm>
            <a:off x="677334" y="1143319"/>
            <a:ext cx="8596668" cy="3880773"/>
          </a:xfrm>
        </p:spPr>
        <p:txBody>
          <a:bodyPr>
            <a:noAutofit/>
          </a:bodyPr>
          <a:lstStyle/>
          <a:p>
            <a:pPr lvl="0"/>
            <a:r>
              <a:rPr lang="en-US" sz="2400" dirty="0">
                <a:latin typeface="Times New Roman" panose="02020603050405020304" pitchFamily="18" charset="0"/>
                <a:cs typeface="Times New Roman" panose="02020603050405020304" pitchFamily="18" charset="0"/>
              </a:rPr>
              <a:t>The ESP32 connects to </a:t>
            </a:r>
            <a:r>
              <a:rPr lang="en-US" sz="2400" dirty="0" err="1">
                <a:latin typeface="Times New Roman" panose="02020603050405020304" pitchFamily="18" charset="0"/>
                <a:cs typeface="Times New Roman" panose="02020603050405020304" pitchFamily="18" charset="0"/>
              </a:rPr>
              <a:t>WiFi</a:t>
            </a:r>
            <a:r>
              <a:rPr lang="en-US" sz="2400" dirty="0">
                <a:latin typeface="Times New Roman" panose="02020603050405020304" pitchFamily="18" charset="0"/>
                <a:cs typeface="Times New Roman" panose="02020603050405020304" pitchFamily="18" charset="0"/>
              </a:rPr>
              <a:t> and Blynk Cloud using an authentication token.</a:t>
            </a:r>
          </a:p>
          <a:p>
            <a:pPr lvl="0"/>
            <a:r>
              <a:rPr lang="en-US" sz="2400" dirty="0">
                <a:latin typeface="Times New Roman" panose="02020603050405020304" pitchFamily="18" charset="0"/>
                <a:cs typeface="Times New Roman" panose="02020603050405020304" pitchFamily="18" charset="0"/>
              </a:rPr>
              <a:t>The MAX30100 sensor continuously measures heart rate (HR) and SpO₂ values.</a:t>
            </a:r>
          </a:p>
          <a:p>
            <a:pPr lvl="0"/>
            <a:r>
              <a:rPr lang="en-US" sz="2400" dirty="0">
                <a:latin typeface="Times New Roman" panose="02020603050405020304" pitchFamily="18" charset="0"/>
                <a:cs typeface="Times New Roman" panose="02020603050405020304" pitchFamily="18" charset="0"/>
              </a:rPr>
              <a:t>These values are updated every 3 seconds and displayed on the OLED screen.</a:t>
            </a:r>
          </a:p>
          <a:p>
            <a:pPr lvl="0"/>
            <a:r>
              <a:rPr lang="en-US" sz="2400" dirty="0">
                <a:latin typeface="Times New Roman" panose="02020603050405020304" pitchFamily="18" charset="0"/>
                <a:cs typeface="Times New Roman" panose="02020603050405020304" pitchFamily="18" charset="0"/>
              </a:rPr>
              <a:t>Data is simultaneously sent to the Blynk application for real-time monitoring.</a:t>
            </a:r>
          </a:p>
          <a:p>
            <a:pPr lvl="0"/>
            <a:r>
              <a:rPr lang="en-US" sz="2400" dirty="0">
                <a:latin typeface="Times New Roman" panose="02020603050405020304" pitchFamily="18" charset="0"/>
                <a:cs typeface="Times New Roman" panose="02020603050405020304" pitchFamily="18" charset="0"/>
              </a:rPr>
              <a:t>If the heart rate exceeds 75 bpm, the buzzer is activated and an email notification is sent to alert about heart risk. (Normal value is 95 bpm but for testing, 75 bpm is used)</a:t>
            </a:r>
          </a:p>
          <a:p>
            <a:pPr lvl="0"/>
            <a:r>
              <a:rPr lang="en-US" sz="2400" dirty="0">
                <a:latin typeface="Times New Roman" panose="02020603050405020304" pitchFamily="18" charset="0"/>
                <a:cs typeface="Times New Roman" panose="02020603050405020304" pitchFamily="18" charset="0"/>
              </a:rPr>
              <a:t>The ESP32 stores recent sensor readings in memory to track trends over time.</a:t>
            </a:r>
          </a:p>
          <a:p>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02181595"/>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FFC3A9-F063-D253-CD0D-9B6C4BE83C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72934F-6FE3-71CF-A29D-DA0E0ACBF246}"/>
              </a:ext>
            </a:extLst>
          </p:cNvPr>
          <p:cNvSpPr>
            <a:spLocks noGrp="1"/>
          </p:cNvSpPr>
          <p:nvPr>
            <p:ph type="title"/>
          </p:nvPr>
        </p:nvSpPr>
        <p:spPr>
          <a:xfrm>
            <a:off x="677334" y="391161"/>
            <a:ext cx="8596668" cy="1320800"/>
          </a:xfrm>
        </p:spPr>
        <p:txBody>
          <a:bodyPr/>
          <a:lstStyle/>
          <a:p>
            <a:r>
              <a:rPr lang="en-US" b="1" dirty="0">
                <a:latin typeface="Times New Roman" panose="02020603050405020304" pitchFamily="18" charset="0"/>
                <a:cs typeface="Times New Roman" panose="02020603050405020304" pitchFamily="18" charset="0"/>
              </a:rPr>
              <a:t>Wiring Connections (Pins):</a:t>
            </a:r>
          </a:p>
        </p:txBody>
      </p:sp>
      <p:sp>
        <p:nvSpPr>
          <p:cNvPr id="4" name="Rectangle 2">
            <a:extLst>
              <a:ext uri="{FF2B5EF4-FFF2-40B4-BE49-F238E27FC236}">
                <a16:creationId xmlns:a16="http://schemas.microsoft.com/office/drawing/2014/main" id="{9D0065E3-E854-C40D-A326-A634E24F8A1A}"/>
              </a:ext>
            </a:extLst>
          </p:cNvPr>
          <p:cNvSpPr>
            <a:spLocks noGrp="1" noChangeArrowheads="1"/>
          </p:cNvSpPr>
          <p:nvPr>
            <p:ph idx="1"/>
          </p:nvPr>
        </p:nvSpPr>
        <p:spPr bwMode="auto">
          <a:xfrm>
            <a:off x="677334" y="1512661"/>
            <a:ext cx="4333238"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MAX30100 Pulse Oximeter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SDA → ESP32 GPIO 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SCL → ESP32 GPIO 22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VCC → 3.3V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GND → GND</a:t>
            </a:r>
          </a:p>
          <a:p>
            <a:pPr marL="0" marR="0" lvl="0" indent="0" algn="l" defTabSz="914400" rtl="0" eaLnBrk="0" fontAlgn="base" latinLnBrk="0" hangingPunct="0">
              <a:lnSpc>
                <a:spcPct val="100000"/>
              </a:lnSpc>
              <a:spcBef>
                <a:spcPct val="0"/>
              </a:spcBef>
              <a:spcAft>
                <a:spcPct val="0"/>
              </a:spcAft>
              <a:buClrTx/>
              <a:buSzTx/>
              <a:buNone/>
              <a:tabLst/>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OLED Display (SSD1306 – I²C)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SDA → ESP32 GPIO 21</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SCL → ESP32 GPIO 22</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VCC → 3.3V</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GND → GND</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Rectangle 2">
            <a:extLst>
              <a:ext uri="{FF2B5EF4-FFF2-40B4-BE49-F238E27FC236}">
                <a16:creationId xmlns:a16="http://schemas.microsoft.com/office/drawing/2014/main" id="{D585C980-F9B1-5DFF-481B-01C0E06F7313}"/>
              </a:ext>
            </a:extLst>
          </p:cNvPr>
          <p:cNvSpPr txBox="1">
            <a:spLocks noChangeArrowheads="1"/>
          </p:cNvSpPr>
          <p:nvPr/>
        </p:nvSpPr>
        <p:spPr bwMode="auto">
          <a:xfrm>
            <a:off x="5397558" y="1512661"/>
            <a:ext cx="4423968"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rtlCol="0" anchor="ctr" anchorCtr="0" compatLnSpc="1">
            <a:prstTxWarp prst="textNoShape">
              <a:avLst/>
            </a:prstTxWarp>
            <a:spAutoFit/>
          </a:bodyPr>
          <a:lst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pPr marL="0" indent="0" defTabSz="914400" eaLnBrk="0" fontAlgn="base" hangingPunct="0">
              <a:spcBef>
                <a:spcPct val="0"/>
              </a:spcBef>
              <a:spcAft>
                <a:spcPct val="0"/>
              </a:spcAft>
              <a:buClrTx/>
              <a:buSzTx/>
              <a:buFont typeface="Wingdings 3" charset="2"/>
              <a:buNone/>
            </a:pPr>
            <a:r>
              <a:rPr lang="en-US" altLang="en-US" sz="2400" b="1" dirty="0">
                <a:solidFill>
                  <a:schemeClr val="tx1"/>
                </a:solidFill>
                <a:latin typeface="Times New Roman" panose="02020603050405020304" pitchFamily="18" charset="0"/>
                <a:cs typeface="Times New Roman" panose="02020603050405020304" pitchFamily="18" charset="0"/>
              </a:rPr>
              <a:t>Buzzer</a:t>
            </a:r>
          </a:p>
          <a:p>
            <a:pPr marL="0" indent="0" defTabSz="914400"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Positive (+) → ESP32 GPIO 14</a:t>
            </a:r>
          </a:p>
          <a:p>
            <a:pPr marL="0" indent="0" defTabSz="914400"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Negative (–) → GND</a:t>
            </a:r>
          </a:p>
          <a:p>
            <a:pPr marL="0" indent="0" defTabSz="914400" eaLnBrk="0" fontAlgn="base" hangingPunct="0">
              <a:spcBef>
                <a:spcPct val="0"/>
              </a:spcBef>
              <a:spcAft>
                <a:spcPct val="0"/>
              </a:spcAft>
              <a:buClrTx/>
              <a:buSzTx/>
              <a:buFont typeface="Wingdings 3" charset="2"/>
              <a:buNone/>
            </a:pPr>
            <a:endParaRPr lang="en-US" altLang="en-US" sz="2000" dirty="0">
              <a:solidFill>
                <a:schemeClr val="tx1"/>
              </a:solidFill>
              <a:latin typeface="Times New Roman" panose="02020603050405020304" pitchFamily="18" charset="0"/>
              <a:cs typeface="Times New Roman" panose="02020603050405020304" pitchFamily="18" charset="0"/>
            </a:endParaRPr>
          </a:p>
          <a:p>
            <a:pPr marL="0" indent="0" defTabSz="914400" eaLnBrk="0" fontAlgn="base" hangingPunct="0">
              <a:spcBef>
                <a:spcPct val="0"/>
              </a:spcBef>
              <a:spcAft>
                <a:spcPct val="0"/>
              </a:spcAft>
              <a:buClrTx/>
              <a:buSzTx/>
              <a:buFont typeface="Wingdings 3" charset="2"/>
              <a:buNone/>
            </a:pPr>
            <a:r>
              <a:rPr lang="en-US" altLang="en-US" sz="2400" b="1" dirty="0">
                <a:solidFill>
                  <a:schemeClr val="tx1"/>
                </a:solidFill>
                <a:latin typeface="Times New Roman" panose="02020603050405020304" pitchFamily="18" charset="0"/>
                <a:cs typeface="Times New Roman" panose="02020603050405020304" pitchFamily="18" charset="0"/>
              </a:rPr>
              <a:t>ESP32</a:t>
            </a:r>
          </a:p>
          <a:p>
            <a:pPr marL="0" indent="0" defTabSz="914400"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Powered via USB </a:t>
            </a:r>
          </a:p>
          <a:p>
            <a:pPr marL="0" indent="0" defTabSz="914400" eaLnBrk="0" fontAlgn="base" hangingPunct="0">
              <a:spcBef>
                <a:spcPct val="0"/>
              </a:spcBef>
              <a:spcAft>
                <a:spcPct val="0"/>
              </a:spcAft>
              <a:buClrTx/>
              <a:buSzTx/>
              <a:buFontTx/>
              <a:buChar char="•"/>
            </a:pPr>
            <a:r>
              <a:rPr lang="en-US" altLang="en-US" sz="2000" dirty="0">
                <a:solidFill>
                  <a:schemeClr val="tx1"/>
                </a:solidFill>
                <a:latin typeface="Times New Roman" panose="02020603050405020304" pitchFamily="18" charset="0"/>
                <a:cs typeface="Times New Roman" panose="02020603050405020304" pitchFamily="18" charset="0"/>
              </a:rPr>
              <a:t>Wi-Fi used for Blynk cloud connectivity</a:t>
            </a:r>
          </a:p>
          <a:p>
            <a:pPr marL="0" indent="0" defTabSz="914400" eaLnBrk="0" fontAlgn="base" hangingPunct="0">
              <a:spcBef>
                <a:spcPct val="0"/>
              </a:spcBef>
              <a:spcAft>
                <a:spcPct val="0"/>
              </a:spcAft>
              <a:buClrTx/>
              <a:buSzTx/>
              <a:buFontTx/>
              <a:buNone/>
            </a:pPr>
            <a:endParaRPr lang="en-US" altLang="en-US" sz="20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50655930"/>
      </p:ext>
    </p:extLst>
  </p:cSld>
  <p:clrMapOvr>
    <a:masterClrMapping/>
  </p:clrMapOvr>
  <p:transition spd="slow">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D25055-5B01-39A4-616C-3DF991332EA9}"/>
            </a:ext>
          </a:extLst>
        </p:cNvPr>
        <p:cNvGrpSpPr/>
        <p:nvPr/>
      </p:nvGrpSpPr>
      <p:grpSpPr>
        <a:xfrm>
          <a:off x="0" y="0"/>
          <a:ext cx="0" cy="0"/>
          <a:chOff x="0" y="0"/>
          <a:chExt cx="0" cy="0"/>
        </a:xfrm>
      </p:grpSpPr>
      <p:sp>
        <p:nvSpPr>
          <p:cNvPr id="5" name="Content Placeholder 4">
            <a:extLst>
              <a:ext uri="{FF2B5EF4-FFF2-40B4-BE49-F238E27FC236}">
                <a16:creationId xmlns:a16="http://schemas.microsoft.com/office/drawing/2014/main" id="{CD6B9E1F-665E-F6AA-4089-BCDC747A67A5}"/>
              </a:ext>
            </a:extLst>
          </p:cNvPr>
          <p:cNvSpPr>
            <a:spLocks noGrp="1"/>
          </p:cNvSpPr>
          <p:nvPr>
            <p:ph idx="1"/>
          </p:nvPr>
        </p:nvSpPr>
        <p:spPr>
          <a:xfrm>
            <a:off x="654474" y="800419"/>
            <a:ext cx="8596668" cy="3880773"/>
          </a:xfrm>
        </p:spPr>
        <p:txBody>
          <a:bodyPr>
            <a:noAutofit/>
          </a:bodyPr>
          <a:lstStyle/>
          <a:p>
            <a:pPr lvl="0"/>
            <a:r>
              <a:rPr lang="en-US" sz="2400" dirty="0">
                <a:latin typeface="Times New Roman" panose="02020603050405020304" pitchFamily="18" charset="0"/>
                <a:cs typeface="Times New Roman" panose="02020603050405020304" pitchFamily="18" charset="0"/>
              </a:rPr>
              <a:t>The system can differentiate between normal and abnormal SpO₂ levels and triggers alerts accordingly.</a:t>
            </a:r>
          </a:p>
          <a:p>
            <a:pPr lvl="0"/>
            <a:r>
              <a:rPr lang="en-US" sz="2400" dirty="0">
                <a:latin typeface="Times New Roman" panose="02020603050405020304" pitchFamily="18" charset="0"/>
                <a:cs typeface="Times New Roman" panose="02020603050405020304" pitchFamily="18" charset="0"/>
              </a:rPr>
              <a:t>Users can monitor their health remotely using the Blynk mobile app.</a:t>
            </a:r>
          </a:p>
          <a:p>
            <a:pPr lvl="0"/>
            <a:r>
              <a:rPr lang="en-US" sz="2400" dirty="0">
                <a:latin typeface="Times New Roman" panose="02020603050405020304" pitchFamily="18" charset="0"/>
                <a:cs typeface="Times New Roman" panose="02020603050405020304" pitchFamily="18" charset="0"/>
              </a:rPr>
              <a:t>The system logs data for future analysis and can generate reports on health conditions.</a:t>
            </a:r>
          </a:p>
          <a:p>
            <a:pPr lvl="0"/>
            <a:r>
              <a:rPr lang="en-US" sz="2400" dirty="0">
                <a:latin typeface="Times New Roman" panose="02020603050405020304" pitchFamily="18" charset="0"/>
                <a:cs typeface="Times New Roman" panose="02020603050405020304" pitchFamily="18" charset="0"/>
              </a:rPr>
              <a:t>All sensor readings are continuously monitored to provide immediate feedback.</a:t>
            </a:r>
          </a:p>
          <a:p>
            <a:pPr lvl="0"/>
            <a:r>
              <a:rPr lang="en-US" sz="2400" dirty="0">
                <a:latin typeface="Times New Roman" panose="02020603050405020304" pitchFamily="18" charset="0"/>
                <a:cs typeface="Times New Roman" panose="02020603050405020304" pitchFamily="18" charset="0"/>
              </a:rPr>
              <a:t>Alerts and notifications ensure timely action in case of critical health conditions.</a:t>
            </a:r>
          </a:p>
          <a:p>
            <a:pPr lvl="0"/>
            <a:r>
              <a:rPr lang="en-US" sz="2400" dirty="0">
                <a:latin typeface="Times New Roman" panose="02020603050405020304" pitchFamily="18" charset="0"/>
                <a:cs typeface="Times New Roman" panose="02020603050405020304" pitchFamily="18" charset="0"/>
              </a:rPr>
              <a:t>An email is also sent to the device owner to check their health status.</a:t>
            </a:r>
          </a:p>
        </p:txBody>
      </p:sp>
    </p:spTree>
    <p:extLst>
      <p:ext uri="{BB962C8B-B14F-4D97-AF65-F5344CB8AC3E}">
        <p14:creationId xmlns:p14="http://schemas.microsoft.com/office/powerpoint/2010/main" val="1419254232"/>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BA7C6-5D65-46E1-2E42-F43E36CB1D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7FCFE7-B3F8-6A3C-0C98-D307F78E9186}"/>
              </a:ext>
            </a:extLst>
          </p:cNvPr>
          <p:cNvSpPr>
            <a:spLocks noGrp="1"/>
          </p:cNvSpPr>
          <p:nvPr>
            <p:ph type="title"/>
          </p:nvPr>
        </p:nvSpPr>
        <p:spPr>
          <a:xfrm>
            <a:off x="677334" y="391161"/>
            <a:ext cx="8596668" cy="1320800"/>
          </a:xfrm>
        </p:spPr>
        <p:txBody>
          <a:bodyPr/>
          <a:lstStyle/>
          <a:p>
            <a:r>
              <a:rPr lang="en-US" b="1" dirty="0">
                <a:latin typeface="Times New Roman" panose="02020603050405020304" pitchFamily="18" charset="0"/>
                <a:cs typeface="Times New Roman" panose="02020603050405020304" pitchFamily="18" charset="0"/>
              </a:rPr>
              <a:t>Hardware Wiring connection:</a:t>
            </a:r>
            <a:endParaRPr lang="en-US" dirty="0">
              <a:latin typeface="Times New Roman" panose="02020603050405020304" pitchFamily="18" charset="0"/>
              <a:cs typeface="Times New Roman" panose="02020603050405020304" pitchFamily="18" charset="0"/>
            </a:endParaRPr>
          </a:p>
        </p:txBody>
      </p:sp>
      <p:pic>
        <p:nvPicPr>
          <p:cNvPr id="6" name="Picture 5" descr="A circuit board with wires and a blue screen&#10;&#10;AI-generated content may be incorrect.">
            <a:extLst>
              <a:ext uri="{FF2B5EF4-FFF2-40B4-BE49-F238E27FC236}">
                <a16:creationId xmlns:a16="http://schemas.microsoft.com/office/drawing/2014/main" id="{D69CC106-7715-5236-A0BF-5C2FFE8E020A}"/>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44962" y="1051561"/>
            <a:ext cx="8829040" cy="5292814"/>
          </a:xfrm>
          <a:prstGeom prst="rect">
            <a:avLst/>
          </a:prstGeom>
          <a:noFill/>
          <a:ln>
            <a:noFill/>
          </a:ln>
        </p:spPr>
      </p:pic>
    </p:spTree>
    <p:extLst>
      <p:ext uri="{BB962C8B-B14F-4D97-AF65-F5344CB8AC3E}">
        <p14:creationId xmlns:p14="http://schemas.microsoft.com/office/powerpoint/2010/main" val="261353137"/>
      </p:ext>
    </p:extLst>
  </p:cSld>
  <p:clrMapOvr>
    <a:masterClrMapping/>
  </p:clrMapOvr>
  <p:transition spd="slow">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0A06C6-AD46-C743-F6D6-221029B1FA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2814BA-B1CB-AA05-B6DA-52E9EFF32BFC}"/>
              </a:ext>
            </a:extLst>
          </p:cNvPr>
          <p:cNvSpPr>
            <a:spLocks noGrp="1"/>
          </p:cNvSpPr>
          <p:nvPr>
            <p:ph type="title"/>
          </p:nvPr>
        </p:nvSpPr>
        <p:spPr>
          <a:xfrm>
            <a:off x="677334" y="391161"/>
            <a:ext cx="8596668" cy="1320800"/>
          </a:xfrm>
        </p:spPr>
        <p:txBody>
          <a:bodyPr/>
          <a:lstStyle/>
          <a:p>
            <a:r>
              <a:rPr lang="en-US" b="1" dirty="0">
                <a:latin typeface="Times New Roman" panose="02020603050405020304" pitchFamily="18" charset="0"/>
                <a:cs typeface="Times New Roman" panose="02020603050405020304" pitchFamily="18" charset="0"/>
              </a:rPr>
              <a:t>Project Working (hardware):</a:t>
            </a:r>
            <a:endParaRPr lang="en-US"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86A0CBF0-457D-1BF6-53FD-3B0F50107A12}"/>
              </a:ext>
            </a:extLst>
          </p:cNvPr>
          <p:cNvPicPr>
            <a:picLocks noChangeAspect="1"/>
          </p:cNvPicPr>
          <p:nvPr/>
        </p:nvPicPr>
        <p:blipFill>
          <a:blip r:embed="rId2"/>
          <a:stretch>
            <a:fillRect/>
          </a:stretch>
        </p:blipFill>
        <p:spPr>
          <a:xfrm>
            <a:off x="4486486" y="3179762"/>
            <a:ext cx="5914814" cy="3252786"/>
          </a:xfrm>
          <a:prstGeom prst="rect">
            <a:avLst/>
          </a:prstGeom>
        </p:spPr>
      </p:pic>
      <p:pic>
        <p:nvPicPr>
          <p:cNvPr id="4" name="Picture 3">
            <a:extLst>
              <a:ext uri="{FF2B5EF4-FFF2-40B4-BE49-F238E27FC236}">
                <a16:creationId xmlns:a16="http://schemas.microsoft.com/office/drawing/2014/main" id="{10C5AFED-5DF6-1031-5C24-1E9CF3366F8C}"/>
              </a:ext>
            </a:extLst>
          </p:cNvPr>
          <p:cNvPicPr>
            <a:picLocks noChangeAspect="1"/>
          </p:cNvPicPr>
          <p:nvPr/>
        </p:nvPicPr>
        <p:blipFill>
          <a:blip r:embed="rId3"/>
          <a:stretch>
            <a:fillRect/>
          </a:stretch>
        </p:blipFill>
        <p:spPr>
          <a:xfrm>
            <a:off x="407478" y="1248092"/>
            <a:ext cx="5688522" cy="3015544"/>
          </a:xfrm>
          <a:prstGeom prst="rect">
            <a:avLst/>
          </a:prstGeom>
        </p:spPr>
      </p:pic>
    </p:spTree>
    <p:extLst>
      <p:ext uri="{BB962C8B-B14F-4D97-AF65-F5344CB8AC3E}">
        <p14:creationId xmlns:p14="http://schemas.microsoft.com/office/powerpoint/2010/main" val="2117806705"/>
      </p:ext>
    </p:extLst>
  </p:cSld>
  <p:clrMapOvr>
    <a:masterClrMapping/>
  </p:clrMapOvr>
  <p:transition spd="slow">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10F359-1CD8-9044-38AB-C99C128CFD8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4C0B0-AB3D-9738-5504-E312AC06EB6A}"/>
              </a:ext>
            </a:extLst>
          </p:cNvPr>
          <p:cNvSpPr>
            <a:spLocks noGrp="1"/>
          </p:cNvSpPr>
          <p:nvPr>
            <p:ph type="title"/>
          </p:nvPr>
        </p:nvSpPr>
        <p:spPr>
          <a:xfrm>
            <a:off x="677334" y="391161"/>
            <a:ext cx="8596668" cy="1320800"/>
          </a:xfrm>
        </p:spPr>
        <p:txBody>
          <a:bodyPr/>
          <a:lstStyle/>
          <a:p>
            <a:r>
              <a:rPr lang="en-US" b="1" dirty="0">
                <a:latin typeface="Times New Roman" panose="02020603050405020304" pitchFamily="18" charset="0"/>
                <a:cs typeface="Times New Roman" panose="02020603050405020304" pitchFamily="18" charset="0"/>
              </a:rPr>
              <a:t>Blynk Dashboard:</a:t>
            </a:r>
            <a:endParaRPr lang="en-US" dirty="0">
              <a:latin typeface="Times New Roman" panose="02020603050405020304" pitchFamily="18" charset="0"/>
              <a:cs typeface="Times New Roman" panose="02020603050405020304" pitchFamily="18" charset="0"/>
            </a:endParaRPr>
          </a:p>
        </p:txBody>
      </p:sp>
      <p:pic>
        <p:nvPicPr>
          <p:cNvPr id="6" name="Picture 5" descr="A screenshot of a computer&#10;&#10;AI-generated content may be incorrect.">
            <a:extLst>
              <a:ext uri="{FF2B5EF4-FFF2-40B4-BE49-F238E27FC236}">
                <a16:creationId xmlns:a16="http://schemas.microsoft.com/office/drawing/2014/main" id="{43F69D04-25E1-E84C-E936-601A268FE6EE}"/>
              </a:ext>
            </a:extLst>
          </p:cNvPr>
          <p:cNvPicPr>
            <a:picLocks noChangeAspect="1"/>
          </p:cNvPicPr>
          <p:nvPr/>
        </p:nvPicPr>
        <p:blipFill>
          <a:blip r:embed="rId2"/>
          <a:stretch>
            <a:fillRect/>
          </a:stretch>
        </p:blipFill>
        <p:spPr>
          <a:xfrm>
            <a:off x="403668" y="1234413"/>
            <a:ext cx="9144000" cy="5109251"/>
          </a:xfrm>
          <a:prstGeom prst="rect">
            <a:avLst/>
          </a:prstGeom>
        </p:spPr>
      </p:pic>
    </p:spTree>
    <p:extLst>
      <p:ext uri="{BB962C8B-B14F-4D97-AF65-F5344CB8AC3E}">
        <p14:creationId xmlns:p14="http://schemas.microsoft.com/office/powerpoint/2010/main" val="3921215441"/>
      </p:ext>
    </p:extLst>
  </p:cSld>
  <p:clrMapOvr>
    <a:masterClrMapping/>
  </p:clrMapOvr>
  <p:transition spd="slow">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8417F3-33E6-5124-C7C5-26BB24BDCB3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04D05F-979B-AC34-3144-E6BB3111A9D8}"/>
              </a:ext>
            </a:extLst>
          </p:cNvPr>
          <p:cNvSpPr>
            <a:spLocks noGrp="1"/>
          </p:cNvSpPr>
          <p:nvPr>
            <p:ph type="title"/>
          </p:nvPr>
        </p:nvSpPr>
        <p:spPr>
          <a:xfrm>
            <a:off x="677334" y="391161"/>
            <a:ext cx="8596668" cy="1320800"/>
          </a:xfrm>
        </p:spPr>
        <p:txBody>
          <a:bodyPr/>
          <a:lstStyle/>
          <a:p>
            <a:r>
              <a:rPr lang="en-US" b="1" dirty="0">
                <a:latin typeface="Times New Roman" panose="02020603050405020304" pitchFamily="18" charset="0"/>
                <a:cs typeface="Times New Roman" panose="02020603050405020304" pitchFamily="18" charset="0"/>
              </a:rPr>
              <a:t>Blynk App:</a:t>
            </a:r>
            <a:endParaRPr lang="en-US" dirty="0">
              <a:latin typeface="Times New Roman" panose="02020603050405020304" pitchFamily="18" charset="0"/>
              <a:cs typeface="Times New Roman" panose="02020603050405020304" pitchFamily="18" charset="0"/>
            </a:endParaRPr>
          </a:p>
        </p:txBody>
      </p:sp>
      <p:pic>
        <p:nvPicPr>
          <p:cNvPr id="4" name="Picture 3" descr="A screenshot of a phone&#10;&#10;AI-generated content may be incorrect.">
            <a:extLst>
              <a:ext uri="{FF2B5EF4-FFF2-40B4-BE49-F238E27FC236}">
                <a16:creationId xmlns:a16="http://schemas.microsoft.com/office/drawing/2014/main" id="{18995B7C-C6ED-DE27-1C58-FB161C05AFBB}"/>
              </a:ext>
            </a:extLst>
          </p:cNvPr>
          <p:cNvPicPr>
            <a:picLocks noChangeAspect="1"/>
          </p:cNvPicPr>
          <p:nvPr/>
        </p:nvPicPr>
        <p:blipFill>
          <a:blip r:embed="rId2"/>
          <a:srcRect t="22334" b="13167"/>
          <a:stretch>
            <a:fillRect/>
          </a:stretch>
        </p:blipFill>
        <p:spPr>
          <a:xfrm>
            <a:off x="1104508" y="1348740"/>
            <a:ext cx="7262643" cy="4423410"/>
          </a:xfrm>
          <a:prstGeom prst="rect">
            <a:avLst/>
          </a:prstGeom>
        </p:spPr>
      </p:pic>
    </p:spTree>
    <p:extLst>
      <p:ext uri="{BB962C8B-B14F-4D97-AF65-F5344CB8AC3E}">
        <p14:creationId xmlns:p14="http://schemas.microsoft.com/office/powerpoint/2010/main" val="1855081315"/>
      </p:ext>
    </p:extLst>
  </p:cSld>
  <p:clrMapOvr>
    <a:masterClrMapping/>
  </p:clrMapOvr>
  <p:transition spd="slow">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22B0D7-1FCD-C9EB-3A95-3ABA540091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F27E90-95F4-2D60-781D-BB75C5B110FC}"/>
              </a:ext>
            </a:extLst>
          </p:cNvPr>
          <p:cNvSpPr>
            <a:spLocks noGrp="1"/>
          </p:cNvSpPr>
          <p:nvPr>
            <p:ph type="title"/>
          </p:nvPr>
        </p:nvSpPr>
        <p:spPr>
          <a:xfrm>
            <a:off x="677334" y="391161"/>
            <a:ext cx="8596668" cy="1320800"/>
          </a:xfrm>
        </p:spPr>
        <p:txBody>
          <a:bodyPr/>
          <a:lstStyle/>
          <a:p>
            <a:r>
              <a:rPr lang="en-US" b="1" dirty="0">
                <a:latin typeface="Times New Roman" panose="02020603050405020304" pitchFamily="18" charset="0"/>
                <a:cs typeface="Times New Roman" panose="02020603050405020304" pitchFamily="18" charset="0"/>
              </a:rPr>
              <a:t>App notification:</a:t>
            </a:r>
            <a:endParaRPr lang="en-US" dirty="0">
              <a:latin typeface="Times New Roman" panose="02020603050405020304" pitchFamily="18" charset="0"/>
              <a:cs typeface="Times New Roman" panose="02020603050405020304" pitchFamily="18" charset="0"/>
            </a:endParaRPr>
          </a:p>
        </p:txBody>
      </p:sp>
      <p:pic>
        <p:nvPicPr>
          <p:cNvPr id="3" name="Picture 2" descr="A screenshot of a phone&#10;&#10;AI-generated content may be incorrect.">
            <a:extLst>
              <a:ext uri="{FF2B5EF4-FFF2-40B4-BE49-F238E27FC236}">
                <a16:creationId xmlns:a16="http://schemas.microsoft.com/office/drawing/2014/main" id="{02679760-C1FC-6617-BCB4-A0F4A34A8C2F}"/>
              </a:ext>
            </a:extLst>
          </p:cNvPr>
          <p:cNvPicPr>
            <a:picLocks noChangeAspect="1"/>
          </p:cNvPicPr>
          <p:nvPr/>
        </p:nvPicPr>
        <p:blipFill>
          <a:blip r:embed="rId2"/>
          <a:stretch>
            <a:fillRect/>
          </a:stretch>
        </p:blipFill>
        <p:spPr>
          <a:xfrm>
            <a:off x="677334" y="1203960"/>
            <a:ext cx="5486400" cy="1836420"/>
          </a:xfrm>
          <a:prstGeom prst="rect">
            <a:avLst/>
          </a:prstGeom>
        </p:spPr>
      </p:pic>
      <p:sp>
        <p:nvSpPr>
          <p:cNvPr id="5" name="Title 1">
            <a:extLst>
              <a:ext uri="{FF2B5EF4-FFF2-40B4-BE49-F238E27FC236}">
                <a16:creationId xmlns:a16="http://schemas.microsoft.com/office/drawing/2014/main" id="{6E83AF54-1D9B-5608-7027-930721DCEA8C}"/>
              </a:ext>
            </a:extLst>
          </p:cNvPr>
          <p:cNvSpPr txBox="1">
            <a:spLocks/>
          </p:cNvSpPr>
          <p:nvPr/>
        </p:nvSpPr>
        <p:spPr>
          <a:xfrm>
            <a:off x="677334" y="3192779"/>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b="1" dirty="0">
                <a:latin typeface="Times New Roman" panose="02020603050405020304" pitchFamily="18" charset="0"/>
                <a:cs typeface="Times New Roman" panose="02020603050405020304" pitchFamily="18" charset="0"/>
              </a:rPr>
              <a:t>Email notification:</a:t>
            </a:r>
            <a:endParaRPr lang="en-US" dirty="0">
              <a:latin typeface="Times New Roman" panose="02020603050405020304" pitchFamily="18" charset="0"/>
              <a:cs typeface="Times New Roman" panose="02020603050405020304" pitchFamily="18" charset="0"/>
            </a:endParaRPr>
          </a:p>
        </p:txBody>
      </p:sp>
      <p:pic>
        <p:nvPicPr>
          <p:cNvPr id="6" name="Picture 5" descr="A screenshot of a computer&#10;&#10;AI-generated content may be incorrect.">
            <a:extLst>
              <a:ext uri="{FF2B5EF4-FFF2-40B4-BE49-F238E27FC236}">
                <a16:creationId xmlns:a16="http://schemas.microsoft.com/office/drawing/2014/main" id="{DAC39CC6-4A4E-5678-B745-35A6810BB19F}"/>
              </a:ext>
            </a:extLst>
          </p:cNvPr>
          <p:cNvPicPr>
            <a:picLocks noChangeAspect="1"/>
          </p:cNvPicPr>
          <p:nvPr/>
        </p:nvPicPr>
        <p:blipFill>
          <a:blip r:embed="rId3"/>
          <a:srcRect b="30951"/>
          <a:stretch>
            <a:fillRect/>
          </a:stretch>
        </p:blipFill>
        <p:spPr>
          <a:xfrm>
            <a:off x="703157" y="3853179"/>
            <a:ext cx="8236367" cy="2261871"/>
          </a:xfrm>
          <a:prstGeom prst="rect">
            <a:avLst/>
          </a:prstGeom>
        </p:spPr>
      </p:pic>
    </p:spTree>
    <p:extLst>
      <p:ext uri="{BB962C8B-B14F-4D97-AF65-F5344CB8AC3E}">
        <p14:creationId xmlns:p14="http://schemas.microsoft.com/office/powerpoint/2010/main" val="507776155"/>
      </p:ext>
    </p:extLst>
  </p:cSld>
  <p:clrMapOvr>
    <a:masterClrMapping/>
  </p:clrMapOvr>
  <p:transition spd="slow">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AE76F-DFFF-5D0B-3C0B-D3CFC3CA79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229220-0508-4C5A-D7B4-D44E7D26AE28}"/>
              </a:ext>
            </a:extLst>
          </p:cNvPr>
          <p:cNvSpPr>
            <a:spLocks noGrp="1"/>
          </p:cNvSpPr>
          <p:nvPr>
            <p:ph type="title"/>
          </p:nvPr>
        </p:nvSpPr>
        <p:spPr>
          <a:xfrm>
            <a:off x="677334" y="391161"/>
            <a:ext cx="8596668" cy="1320800"/>
          </a:xfrm>
        </p:spPr>
        <p:txBody>
          <a:bodyPr/>
          <a:lstStyle/>
          <a:p>
            <a:r>
              <a:rPr lang="en-US" b="1" dirty="0">
                <a:latin typeface="Times New Roman" panose="02020603050405020304" pitchFamily="18" charset="0"/>
                <a:cs typeface="Times New Roman" panose="02020603050405020304" pitchFamily="18" charset="0"/>
              </a:rPr>
              <a:t>Limitations:</a:t>
            </a:r>
            <a:br>
              <a:rPr lang="en-US" b="1" dirty="0">
                <a:latin typeface="Times New Roman" panose="02020603050405020304" pitchFamily="18" charset="0"/>
                <a:cs typeface="Times New Roman" panose="02020603050405020304" pitchFamily="18" charset="0"/>
              </a:rPr>
            </a:br>
            <a:endParaRPr lang="en-US" dirty="0">
              <a:latin typeface="Times New Roman" panose="02020603050405020304" pitchFamily="18" charset="0"/>
              <a:cs typeface="Times New Roman" panose="02020603050405020304" pitchFamily="18" charset="0"/>
            </a:endParaRPr>
          </a:p>
        </p:txBody>
      </p:sp>
      <p:sp>
        <p:nvSpPr>
          <p:cNvPr id="4" name="Content Placeholder 4">
            <a:extLst>
              <a:ext uri="{FF2B5EF4-FFF2-40B4-BE49-F238E27FC236}">
                <a16:creationId xmlns:a16="http://schemas.microsoft.com/office/drawing/2014/main" id="{233B22E6-4FB0-B446-326D-D88FF26A0473}"/>
              </a:ext>
            </a:extLst>
          </p:cNvPr>
          <p:cNvSpPr>
            <a:spLocks noGrp="1"/>
          </p:cNvSpPr>
          <p:nvPr>
            <p:ph idx="1"/>
          </p:nvPr>
        </p:nvSpPr>
        <p:spPr>
          <a:xfrm>
            <a:off x="677334" y="1051561"/>
            <a:ext cx="8596668" cy="3880773"/>
          </a:xfrm>
        </p:spPr>
        <p:txBody>
          <a:bodyPr>
            <a:noAutofit/>
          </a:bodyPr>
          <a:lstStyle/>
          <a:p>
            <a:r>
              <a:rPr lang="en-US" sz="2400" dirty="0">
                <a:latin typeface="Times New Roman" panose="02020603050405020304" pitchFamily="18" charset="0"/>
                <a:cs typeface="Times New Roman" panose="02020603050405020304" pitchFamily="18" charset="0"/>
              </a:rPr>
              <a:t>The MAX30100 pulse oximeter sensor shows limited compatibility when used side by side with other sensors in the same ESP32. During implementation, it was observed that when the MAX30100 was used together with the DS18B20 body temperature sensor, the MAX30100 failed to provide accurate heart rate and SpO₂ readings, while the DS18B20 continued to function normally.</a:t>
            </a:r>
          </a:p>
          <a:p>
            <a:r>
              <a:rPr lang="en-US" sz="2400" dirty="0">
                <a:latin typeface="Times New Roman" panose="02020603050405020304" pitchFamily="18" charset="0"/>
                <a:cs typeface="Times New Roman" panose="02020603050405020304" pitchFamily="18" charset="0"/>
              </a:rPr>
              <a:t>This issue occurs due to timing and resource conflicts, as the MAX30100 requires continuous I²C communication and frequent data updates, whereas the DS18B20 relies on precise timing for One Wire communication. Managing both sensors simultaneously on the ESP32 caused synchronization issues, leading to unreliable MAX30100 readings.</a:t>
            </a:r>
          </a:p>
        </p:txBody>
      </p:sp>
    </p:spTree>
    <p:extLst>
      <p:ext uri="{BB962C8B-B14F-4D97-AF65-F5344CB8AC3E}">
        <p14:creationId xmlns:p14="http://schemas.microsoft.com/office/powerpoint/2010/main" val="3052114623"/>
      </p:ext>
    </p:extLst>
  </p:cSld>
  <p:clrMapOvr>
    <a:masterClrMapping/>
  </p:clrMapOvr>
  <p:transition spd="slow">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CC25C-556F-6D93-720C-CD2863882DE4}"/>
            </a:ext>
          </a:extLst>
        </p:cNvPr>
        <p:cNvGrpSpPr/>
        <p:nvPr/>
      </p:nvGrpSpPr>
      <p:grpSpPr>
        <a:xfrm>
          <a:off x="0" y="0"/>
          <a:ext cx="0" cy="0"/>
          <a:chOff x="0" y="0"/>
          <a:chExt cx="0" cy="0"/>
        </a:xfrm>
      </p:grpSpPr>
      <p:sp>
        <p:nvSpPr>
          <p:cNvPr id="4" name="Content Placeholder 4">
            <a:extLst>
              <a:ext uri="{FF2B5EF4-FFF2-40B4-BE49-F238E27FC236}">
                <a16:creationId xmlns:a16="http://schemas.microsoft.com/office/drawing/2014/main" id="{FC30EF2B-7E91-72DB-5B75-B1300317CF38}"/>
              </a:ext>
            </a:extLst>
          </p:cNvPr>
          <p:cNvSpPr>
            <a:spLocks noGrp="1"/>
          </p:cNvSpPr>
          <p:nvPr>
            <p:ph idx="1"/>
          </p:nvPr>
        </p:nvSpPr>
        <p:spPr>
          <a:xfrm>
            <a:off x="677334" y="1051561"/>
            <a:ext cx="8596668" cy="3880773"/>
          </a:xfrm>
        </p:spPr>
        <p:txBody>
          <a:bodyPr>
            <a:noAutofit/>
          </a:bodyPr>
          <a:lstStyle/>
          <a:p>
            <a:r>
              <a:rPr lang="en-US" sz="2400" dirty="0">
                <a:latin typeface="Times New Roman" panose="02020603050405020304" pitchFamily="18" charset="0"/>
                <a:cs typeface="Times New Roman" panose="02020603050405020304" pitchFamily="18" charset="0"/>
              </a:rPr>
              <a:t>This limitation has been addressed in the MAX30102 sensor, which offers improved internal timing control and better stability when used in multi-sensor environments. However, the MAX30102 was not easily available in the local market at the time of development, so the MAX30100 was used instead. As the project was about health monitoring, we use MAX30100 with alert system. </a:t>
            </a:r>
          </a:p>
        </p:txBody>
      </p:sp>
    </p:spTree>
    <p:extLst>
      <p:ext uri="{BB962C8B-B14F-4D97-AF65-F5344CB8AC3E}">
        <p14:creationId xmlns:p14="http://schemas.microsoft.com/office/powerpoint/2010/main" val="1823880537"/>
      </p:ext>
    </p:extLst>
  </p:cSld>
  <p:clrMapOvr>
    <a:masterClrMapping/>
  </p:clrMapOvr>
  <p:transition spd="slow">
    <p:wip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5E0323-4FAE-A778-84DD-7E99FF2D8184}"/>
              </a:ext>
            </a:extLst>
          </p:cNvPr>
          <p:cNvSpPr>
            <a:spLocks noGrp="1"/>
          </p:cNvSpPr>
          <p:nvPr>
            <p:ph type="title"/>
          </p:nvPr>
        </p:nvSpPr>
        <p:spPr>
          <a:xfrm>
            <a:off x="1797666" y="2644140"/>
            <a:ext cx="8596668" cy="1320800"/>
          </a:xfrm>
        </p:spPr>
        <p:txBody>
          <a:bodyPr>
            <a:normAutofit/>
          </a:bodyPr>
          <a:lstStyle/>
          <a:p>
            <a:r>
              <a:rPr lang="en-US" sz="7200" b="1" dirty="0">
                <a:latin typeface="Times New Roman" panose="02020603050405020304" pitchFamily="18" charset="0"/>
                <a:cs typeface="Times New Roman" panose="02020603050405020304" pitchFamily="18" charset="0"/>
              </a:rPr>
              <a:t>Any Questions ?</a:t>
            </a:r>
          </a:p>
        </p:txBody>
      </p:sp>
    </p:spTree>
    <p:extLst>
      <p:ext uri="{BB962C8B-B14F-4D97-AF65-F5344CB8AC3E}">
        <p14:creationId xmlns:p14="http://schemas.microsoft.com/office/powerpoint/2010/main" val="1907324622"/>
      </p:ext>
    </p:extLst>
  </p:cSld>
  <p:clrMapOvr>
    <a:masterClrMapping/>
  </p:clrMapOvr>
  <p:transition spd="slow">
    <p:wipe/>
  </p:transition>
</p:sld>
</file>

<file path=ppt/theme/theme1.xml><?xml version="1.0" encoding="utf-8"?>
<a:theme xmlns:a="http://schemas.openxmlformats.org/drawingml/2006/main" name="Facet">
  <a:themeElements>
    <a:clrScheme name="Red Orange">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344</TotalTime>
  <Words>835</Words>
  <Application>Microsoft Office PowerPoint</Application>
  <PresentationFormat>Widescreen</PresentationFormat>
  <Paragraphs>78</Paragraphs>
  <Slides>18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Times New Roman</vt:lpstr>
      <vt:lpstr>Trebuchet MS</vt:lpstr>
      <vt:lpstr>Wingdings 3</vt:lpstr>
      <vt:lpstr>Facet</vt:lpstr>
      <vt:lpstr>Health Monitoring System(HMS)</vt:lpstr>
      <vt:lpstr>Introduction</vt:lpstr>
      <vt:lpstr>Objectives</vt:lpstr>
      <vt:lpstr>Libraries used:</vt:lpstr>
      <vt:lpstr>Hardware Components:</vt:lpstr>
      <vt:lpstr>Circuit Diagram</vt:lpstr>
      <vt:lpstr>Flow Chart:</vt:lpstr>
      <vt:lpstr>Working:</vt:lpstr>
      <vt:lpstr>Wiring Connections (Pins):</vt:lpstr>
      <vt:lpstr>PowerPoint Presentation</vt:lpstr>
      <vt:lpstr>Hardware Wiring connection:</vt:lpstr>
      <vt:lpstr>Project Working (hardware):</vt:lpstr>
      <vt:lpstr>Blynk Dashboard:</vt:lpstr>
      <vt:lpstr>Blynk App:</vt:lpstr>
      <vt:lpstr>App notification:</vt:lpstr>
      <vt:lpstr>Limitations: </vt:lpstr>
      <vt:lpstr>PowerPoint Presentation</vt:lpstr>
      <vt:lpstr>Any Questions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23-NTU-CS-FL-1247</dc:creator>
  <cp:lastModifiedBy>23-NTU-CS-FL-1247</cp:lastModifiedBy>
  <cp:revision>9</cp:revision>
  <dcterms:created xsi:type="dcterms:W3CDTF">2025-11-29T05:15:07Z</dcterms:created>
  <dcterms:modified xsi:type="dcterms:W3CDTF">2025-12-31T13:00:15Z</dcterms:modified>
</cp:coreProperties>
</file>